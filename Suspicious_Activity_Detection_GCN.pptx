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0" y="457200"/>
            <a:ext cx="4114800" cy="4114800"/>
          </a:xfrm>
          <a:prstGeom prst="rect">
            <a:avLst/>
          </a:prstGeom>
          <a:solidFill>
            <a:srgbClr val="00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0" y="1005840"/>
            <a:ext cx="2834640" cy="2834640"/>
          </a:xfrm>
          <a:prstGeom prst="rect">
            <a:avLst/>
          </a:prstGeom>
          <a:solidFill>
            <a:srgbClr val="00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052560" y="1645920"/>
            <a:ext cx="1554480" cy="1554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0" y="1737360"/>
            <a:ext cx="1371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FFFFFF"/>
                </a:solidFill>
              </a:rPr>
              <a:t>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572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D4FF"/>
                </a:solidFill>
              </a:rPr>
              <a:t>COEP TECHNOLOGICAL UNIVERSITY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914400"/>
            <a:ext cx="4480560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1051560"/>
            <a:ext cx="4663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Suspicious Activity
Detection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297180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00D4FF"/>
                </a:solidFill>
              </a:rPr>
              <a:t>Using Graph Convolutional Networks
&amp; Computer Vision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858768"/>
            <a:ext cx="4480560" cy="27432"/>
          </a:xfrm>
          <a:prstGeom prst="rect">
            <a:avLst/>
          </a:prstGeom>
          <a:solidFill>
            <a:srgbClr val="1E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4023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6B35"/>
                </a:solidFill>
              </a:rPr>
              <a:t>TEAM MEMBERS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" y="434340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Sagar Shukla   •   Aditya Sonwane   •   Prem Sawant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5120640"/>
            <a:ext cx="914400" cy="274320"/>
          </a:xfrm>
          <a:prstGeom prst="rect">
            <a:avLst/>
          </a:prstGeom>
          <a:solidFill>
            <a:srgbClr val="00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512064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D4FF"/>
                </a:solidFill>
              </a:rPr>
              <a:t>YOLOv8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27048" y="5120640"/>
            <a:ext cx="914400" cy="274320"/>
          </a:xfrm>
          <a:prstGeom prst="rect">
            <a:avLst/>
          </a:prstGeom>
          <a:solidFill>
            <a:srgbClr val="00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27048" y="512064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D4FF"/>
                </a:solidFill>
              </a:rPr>
              <a:t>DeepSORT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42616" y="5120640"/>
            <a:ext cx="914400" cy="274320"/>
          </a:xfrm>
          <a:prstGeom prst="rect">
            <a:avLst/>
          </a:prstGeom>
          <a:solidFill>
            <a:srgbClr val="00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42616" y="512064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D4FF"/>
                </a:solidFill>
              </a:rPr>
              <a:t>PyTorch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58184" y="5120640"/>
            <a:ext cx="914400" cy="274320"/>
          </a:xfrm>
          <a:prstGeom prst="rect">
            <a:avLst/>
          </a:prstGeom>
          <a:solidFill>
            <a:srgbClr val="003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58184" y="512064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D4FF"/>
                </a:solidFill>
              </a:rPr>
              <a:t>ST-GCN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6309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D6E0"/>
                </a:solidFill>
              </a:rPr>
              <a:t>Academic Year 2025-26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124712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D4FF"/>
                </a:solidFill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1556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D6E0"/>
                </a:solidFill>
              </a:rPr>
              <a:t>How do we detect suspicious activity in real-time from surveillance feeds?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1247120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3566160" cy="3383280"/>
          </a:xfrm>
          <a:prstGeom prst="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356616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459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860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</a:rPr>
              <a:t>Massive Surveillance Scale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8892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Thousands of cameras generate more footage than humans can ever monitor manually.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70832" y="1554480"/>
            <a:ext cx="3566160" cy="3383280"/>
          </a:xfrm>
          <a:prstGeom prst="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1554480"/>
            <a:ext cx="356616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16459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⚠️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2860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</a:rPr>
              <a:t>Delayed Human Response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278892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Crimes detected hours or days after occurrence, making prevention impossible.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84464" y="1554480"/>
            <a:ext cx="3566160" cy="3383280"/>
          </a:xfrm>
          <a:prstGeom prst="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84464" y="1554480"/>
            <a:ext cx="356616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21624" y="16459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21624" y="22860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</a:rPr>
              <a:t>Naive AI Fails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21624" y="278892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Simple pixel-based models are fooled by lighting, occlusion, and camera angles.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120640"/>
            <a:ext cx="11247120" cy="685800"/>
          </a:xfrm>
          <a:prstGeom prst="rect">
            <a:avLst/>
          </a:prstGeom>
          <a:solidFill>
            <a:srgbClr val="00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5120640"/>
            <a:ext cx="73152" cy="6858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1663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💡  Our Solution: Analyse only the human skeleton geometry — not raw pixels — to detect suspicious patterns using a Graph Convolutional Network.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124712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D4FF"/>
                </a:solidFill>
              </a:rPr>
              <a:t>Why Skeleton-Based Detection?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1556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D6E0"/>
                </a:solidFill>
              </a:rPr>
              <a:t>Abstracting human motion as a geometric graph, not raw pixels.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303520" cy="4389120"/>
          </a:xfrm>
          <a:prstGeom prst="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530352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6420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</a:rPr>
              <a:t>❌  Traditional Methods — Problems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48840"/>
            <a:ext cx="50749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D6E0"/>
                </a:solidFill>
              </a:defRPr>
            </a:pPr>
            <a:r>
              <a:t>  •  Pixel models affected by lighting &amp; shadows</a:t>
            </a:r>
          </a:p>
          <a:p>
            <a:pPr>
              <a:spcAft>
                <a:spcPts val="400"/>
              </a:spcAft>
              <a:defRPr sz="1300">
                <a:solidFill>
                  <a:srgbClr val="CCD6E0"/>
                </a:solidFill>
              </a:defRPr>
            </a:pPr>
            <a:r>
              <a:t>  •  Background clutter confuses classifiers</a:t>
            </a:r>
          </a:p>
          <a:p>
            <a:pPr>
              <a:spcAft>
                <a:spcPts val="400"/>
              </a:spcAft>
              <a:defRPr sz="1300">
                <a:solidFill>
                  <a:srgbClr val="CCD6E0"/>
                </a:solidFill>
              </a:defRPr>
            </a:pPr>
            <a:r>
              <a:t>  •  Computationally expensive (raw RGB frames)</a:t>
            </a:r>
          </a:p>
          <a:p>
            <a:pPr>
              <a:spcAft>
                <a:spcPts val="400"/>
              </a:spcAft>
              <a:defRPr sz="1300">
                <a:solidFill>
                  <a:srgbClr val="CCD6E0"/>
                </a:solidFill>
              </a:defRPr>
            </a:pPr>
            <a:r>
              <a:t>  •  Cannot generalise across different cameras</a:t>
            </a:r>
          </a:p>
          <a:p>
            <a:pPr>
              <a:spcAft>
                <a:spcPts val="400"/>
              </a:spcAft>
              <a:defRPr sz="1300">
                <a:solidFill>
                  <a:srgbClr val="CCD6E0"/>
                </a:solidFill>
              </a:defRPr>
            </a:pPr>
            <a:r>
              <a:t>  •  Privacy concerns with full image processing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1554480"/>
            <a:ext cx="5669280" cy="4389120"/>
          </a:xfrm>
          <a:prstGeom prst="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1554480"/>
            <a:ext cx="5669280" cy="54864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166420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9FF14"/>
                </a:solidFill>
              </a:rPr>
              <a:t>✅  Skeleton Graph Approach — Benefits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148840"/>
            <a:ext cx="5486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CD6E0"/>
                </a:solidFill>
              </a:defRPr>
            </a:pPr>
            <a:r>
              <a:t>  •  Invariant to clothing, lighting, background</a:t>
            </a:r>
          </a:p>
          <a:p>
            <a:pPr>
              <a:spcAft>
                <a:spcPts val="400"/>
              </a:spcAft>
              <a:defRPr sz="1300">
                <a:solidFill>
                  <a:srgbClr val="CCD6E0"/>
                </a:solidFill>
              </a:defRPr>
            </a:pPr>
            <a:r>
              <a:t>  •  Compact 17-joint data — low memory footprint</a:t>
            </a:r>
          </a:p>
          <a:p>
            <a:pPr>
              <a:spcAft>
                <a:spcPts val="400"/>
              </a:spcAft>
              <a:defRPr sz="1300">
                <a:solidFill>
                  <a:srgbClr val="CCD6E0"/>
                </a:solidFill>
              </a:defRPr>
            </a:pPr>
            <a:r>
              <a:t>  •  Captures biomechanical motion patterns</a:t>
            </a:r>
          </a:p>
          <a:p>
            <a:pPr>
              <a:spcAft>
                <a:spcPts val="400"/>
              </a:spcAft>
              <a:defRPr sz="1300">
                <a:solidFill>
                  <a:srgbClr val="CCD6E0"/>
                </a:solidFill>
              </a:defRPr>
            </a:pPr>
            <a:r>
              <a:t>  •  Respects physical anatomy via graph edges</a:t>
            </a:r>
          </a:p>
          <a:p>
            <a:pPr>
              <a:spcAft>
                <a:spcPts val="400"/>
              </a:spcAft>
              <a:defRPr sz="1300">
                <a:solidFill>
                  <a:srgbClr val="CCD6E0"/>
                </a:solidFill>
              </a:defRPr>
            </a:pPr>
            <a:r>
              <a:t>  •  Privacy-preserving — no face/identity stored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124712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D4FF"/>
                </a:solidFill>
              </a:rPr>
              <a:t>What is a Graph Convolutional Network (GCN)?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1556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D6E0"/>
                </a:solidFill>
              </a:rPr>
              <a:t>Extending deep learning from grids to arbitrary graph structures.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554480"/>
            <a:ext cx="3017520" cy="1737360"/>
          </a:xfrm>
          <a:prstGeom prst="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0" y="1572768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39" y="2194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D4FF"/>
                </a:solidFill>
              </a:rPr>
              <a:t>CNN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39" y="25603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6E0"/>
                </a:solidFill>
              </a:rPr>
              <a:t>Convolves over a 2D image pixel grid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0" y="1572768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➡️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2194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D4FF"/>
                </a:solidFill>
              </a:rPr>
              <a:t>vs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5603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6E0"/>
                </a:solidFill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8046719" y="1554480"/>
            <a:ext cx="3017520" cy="1737360"/>
          </a:xfrm>
          <a:prstGeom prst="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59" y="1572768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2194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D4FF"/>
                </a:solidFill>
              </a:rPr>
              <a:t>GCN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25603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6E0"/>
                </a:solidFill>
              </a:rPr>
              <a:t>Convolves over nodes in a graph structure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5661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FF"/>
                </a:solidFill>
              </a:rPr>
              <a:t>Key Concepts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931920"/>
            <a:ext cx="11247120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069080"/>
            <a:ext cx="5577840" cy="868680"/>
          </a:xfrm>
          <a:prstGeom prst="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1148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</a:rPr>
              <a:t>Nodes  (V)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4114800"/>
            <a:ext cx="37490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Each node = 1 skeleton joint (e.g., knee, elbow). 17 nodes for COCO pose.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4069080"/>
            <a:ext cx="5577840" cy="868680"/>
          </a:xfrm>
          <a:prstGeom prst="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1148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</a:rPr>
              <a:t>Edges  (E)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4114800"/>
            <a:ext cx="37490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Connections = physical bones between joints (hip-knee, shoulder-elbow, etc.)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074920"/>
            <a:ext cx="5577840" cy="868680"/>
          </a:xfrm>
          <a:prstGeom prst="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1206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</a:rPr>
              <a:t>Adjacency 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4560" y="5120640"/>
            <a:ext cx="37490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Matrix encoding which joints are connected — defines spatial neighbourhood.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5074920"/>
            <a:ext cx="5577840" cy="868680"/>
          </a:xfrm>
          <a:prstGeom prst="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51206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</a:rPr>
              <a:t>Graph Conv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5120640"/>
            <a:ext cx="37490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Aggregates features from a joint AND its anatomically connected neighbours.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124712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D4FF"/>
                </a:solidFill>
              </a:rPr>
              <a:t>ST-GCN: Spatio-Temporal GCN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1556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D6E0"/>
                </a:solidFill>
              </a:rPr>
              <a:t>Combining spatial joint relations with temporal motion dynamics.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828800"/>
            <a:ext cx="1600200" cy="1280160"/>
          </a:xfrm>
          <a:prstGeom prst="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828800"/>
            <a:ext cx="1600200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1508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D4FF"/>
                </a:solidFill>
              </a:rPr>
              <a:t>Input
(N,C,T,V,M)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2194560"/>
            <a:ext cx="2560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313432" y="1828800"/>
            <a:ext cx="1600200" cy="1280160"/>
          </a:xfrm>
          <a:prstGeom prst="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313432" y="1828800"/>
            <a:ext cx="1600200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59152" y="1965960"/>
            <a:ext cx="1508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6B35"/>
                </a:solidFill>
              </a:rPr>
              <a:t>Spatial
Graph Conv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59352" y="2194560"/>
            <a:ext cx="2560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15384" y="1828800"/>
            <a:ext cx="1600200" cy="1280160"/>
          </a:xfrm>
          <a:prstGeom prst="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15384" y="1828800"/>
            <a:ext cx="1600200" cy="64008"/>
          </a:xfrm>
          <a:prstGeom prst="rect">
            <a:avLst/>
          </a:prstGeom>
          <a:solidFill>
            <a:srgbClr val="AA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61104" y="1965960"/>
            <a:ext cx="1508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AA44FF"/>
                </a:solidFill>
              </a:rPr>
              <a:t>Temporal
Conv (TCN)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61304" y="2194560"/>
            <a:ext cx="2560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17336" y="1828800"/>
            <a:ext cx="1600200" cy="1280160"/>
          </a:xfrm>
          <a:prstGeom prst="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17336" y="1828800"/>
            <a:ext cx="1600200" cy="6400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63056" y="1965960"/>
            <a:ext cx="1508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9FF14"/>
                </a:solidFill>
              </a:rPr>
              <a:t>Residual
Skip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63256" y="2194560"/>
            <a:ext cx="2560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19288" y="1828800"/>
            <a:ext cx="1600200" cy="1280160"/>
          </a:xfrm>
          <a:prstGeom prst="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19288" y="1828800"/>
            <a:ext cx="1600200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65008" y="1965960"/>
            <a:ext cx="1508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6B35"/>
                </a:solidFill>
              </a:rPr>
              <a:t>Global Avg
Pooling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65208" y="2194560"/>
            <a:ext cx="2560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921240" y="1828800"/>
            <a:ext cx="1600200" cy="1280160"/>
          </a:xfrm>
          <a:prstGeom prst="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921240" y="1828800"/>
            <a:ext cx="1600200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66960" y="1965960"/>
            <a:ext cx="1508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D4FF"/>
                </a:solidFill>
              </a:rPr>
              <a:t>FC Layer
14 Classes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315468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AACC"/>
                </a:solidFill>
              </a:rPr>
              <a:t>(N,3,30,17,1)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13432" y="315468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AACC"/>
                </a:solidFill>
              </a:rPr>
              <a:t>(N,64,30,17)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15384" y="315468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AACC"/>
                </a:solidFill>
              </a:rPr>
              <a:t>(N,64,30,17)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17336" y="315468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AACC"/>
                </a:solidFill>
              </a:rPr>
              <a:t>(N,256,8,17)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19288" y="315468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AACC"/>
                </a:solidFill>
              </a:rPr>
              <a:t>(N,256)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21240" y="315468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8AACC"/>
                </a:solidFill>
              </a:rPr>
              <a:t>(N,14)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37033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</a:rPr>
              <a:t>6-Layer Stack Detail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069080"/>
            <a:ext cx="11247120" cy="228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4160520"/>
            <a:ext cx="11064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Layer 1-2: STGCNBlock (in=3,  out=64,  stride=1) — learns fine joint co-activation patterns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4498848"/>
            <a:ext cx="11064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Layer 3:   STGCNBlock (in=64, out=128, stride=2) — downsamples temporal dimension 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4837176"/>
            <a:ext cx="11064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Layer 4:   STGCNBlock (in=128,out=128, stride=1) — deeper spatial reasoning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175504"/>
            <a:ext cx="11064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Layer 5:   STGCNBlock (in=128,out=256, stride=2) — further temporal compression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5513831"/>
            <a:ext cx="11064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Layer 6:   STGCNBlock (in=256,out=256, stride=1) — high-level abstract representation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124712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D4FF"/>
                </a:solidFill>
              </a:rPr>
              <a:t>System Pipeline — End to 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1556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D6E0"/>
                </a:solidFill>
              </a:rPr>
              <a:t>From raw camera feed to real-time activity classification.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1600200"/>
            <a:ext cx="1463040" cy="1920240"/>
          </a:xfrm>
          <a:prstGeom prst="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600200"/>
            <a:ext cx="146304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664208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" y="2286000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Camera Feed
/ Video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" y="2880360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6E0"/>
                </a:solidFill>
              </a:rPr>
              <a:t>Raw RGB frames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46504" y="2194560"/>
            <a:ext cx="2011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4FF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29384" y="1600200"/>
            <a:ext cx="1463040" cy="1920240"/>
          </a:xfrm>
          <a:prstGeom prst="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29384" y="1600200"/>
            <a:ext cx="146304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32304" y="1664208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75104" y="2286000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YOLOv8-Pose
Detection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75104" y="2880360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6E0"/>
                </a:solidFill>
              </a:rPr>
              <a:t>17 skeleton joints
per person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19856" y="2194560"/>
            <a:ext cx="2011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4FF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02736" y="1600200"/>
            <a:ext cx="1463040" cy="1920240"/>
          </a:xfrm>
          <a:prstGeom prst="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02736" y="1600200"/>
            <a:ext cx="146304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05656" y="1664208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48456" y="2286000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DeepSORT
Tracking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48456" y="2880360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6E0"/>
                </a:solidFill>
              </a:rPr>
              <a:t>Persistent ID
across frames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93208" y="2194560"/>
            <a:ext cx="2011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4FF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76088" y="1600200"/>
            <a:ext cx="1463040" cy="1920240"/>
          </a:xfrm>
          <a:prstGeom prst="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276088" y="1600200"/>
            <a:ext cx="146304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79008" y="1664208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21808" y="2286000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Skeleton
Buffer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21808" y="2880360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6E0"/>
                </a:solidFill>
              </a:rPr>
              <a:t>T=30 sliding
window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2194560"/>
            <a:ext cx="2011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4FF"/>
                </a:solidFill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49440" y="1600200"/>
            <a:ext cx="1463040" cy="1920240"/>
          </a:xfrm>
          <a:prstGeom prst="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949440" y="1600200"/>
            <a:ext cx="146304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52360" y="1664208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60" y="2286000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GCN
Preprocessor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95160" y="2880360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6E0"/>
                </a:solidFill>
              </a:rPr>
              <a:t>Hip-centre norm.
(N,C,T,V,M)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39912" y="2194560"/>
            <a:ext cx="2011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4FF"/>
                </a:solidFill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622792" y="1600200"/>
            <a:ext cx="1463040" cy="1920240"/>
          </a:xfrm>
          <a:prstGeom prst="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622792" y="1600200"/>
            <a:ext cx="146304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25712" y="1664208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68512" y="2286000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ST-GCN
Model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68512" y="2880360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6E0"/>
                </a:solidFill>
              </a:rPr>
              <a:t>14-class
classification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13263" y="2194560"/>
            <a:ext cx="2011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4FF"/>
                </a:solidFill>
              </a:rPr>
              <a:t>→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296144" y="1600200"/>
            <a:ext cx="1463040" cy="1920240"/>
          </a:xfrm>
          <a:prstGeom prst="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296144" y="1600200"/>
            <a:ext cx="146304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799064" y="1664208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41864" y="2286000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Live
Alert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41864" y="2880360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6E0"/>
                </a:solidFill>
              </a:rPr>
              <a:t>Class name +
confidence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3749039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</a:rPr>
              <a:t>Module-to-File Mapping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4114800"/>
            <a:ext cx="11247120" cy="228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640" y="420624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</a:rPr>
              <a:t>tracking_and_pose.py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520440" y="420624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  —  YOLOv8 + DeepSORT — extracts skeleton keypoints per tracked person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459028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</a:rPr>
              <a:t>data_processing.py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520440" y="4590288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  —  SkeletonBuffer, GCNPreprocessor, Graph — all data engineering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4974336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</a:rPr>
              <a:t>gcn_model.py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520440" y="4974336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  —  ActionRecognitionGCN — the neural network PyTorch model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5358383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</a:rPr>
              <a:t>inference.py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520440" y="5358383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  —  Master script — runs live webcam feed + shows activity alerts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124712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D4FF"/>
                </a:solidFill>
              </a:rPr>
              <a:t>Data Processing &amp; Graph Construction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1556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D6E0"/>
                </a:solidFill>
              </a:rPr>
              <a:t>Converting live skeletal observations into GCN-compatible tensors.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5303520" cy="4389120"/>
          </a:xfrm>
          <a:prstGeom prst="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72768"/>
            <a:ext cx="530352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64208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🧩  SkeletonBuffer (T=30 window)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21408"/>
            <a:ext cx="5074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D6E0"/>
                </a:solidFill>
              </a:defRPr>
            </a:pPr>
            <a:r>
              <a:t>  •  DeepSORT assigns stable Track ID to each person</a:t>
            </a:r>
          </a:p>
          <a:p>
            <a:pPr>
              <a:spcAft>
                <a:spcPts val="400"/>
              </a:spcAft>
              <a:defRPr sz="1200">
                <a:solidFill>
                  <a:srgbClr val="CCD6E0"/>
                </a:solidFill>
              </a:defRPr>
            </a:pPr>
            <a:r>
              <a:t>  •  Maintains a deque (sliding window) per Track ID</a:t>
            </a:r>
          </a:p>
          <a:p>
            <a:pPr>
              <a:spcAft>
                <a:spcPts val="400"/>
              </a:spcAft>
              <a:defRPr sz="1200">
                <a:solidFill>
                  <a:srgbClr val="CCD6E0"/>
                </a:solidFill>
              </a:defRPr>
            </a:pPr>
            <a:r>
              <a:t>  •  Temporal length T = 30 frames of skeleton data</a:t>
            </a:r>
          </a:p>
          <a:p>
            <a:pPr>
              <a:spcAft>
                <a:spcPts val="400"/>
              </a:spcAft>
              <a:defRPr sz="1200">
                <a:solidFill>
                  <a:srgbClr val="CCD6E0"/>
                </a:solidFill>
              </a:defRPr>
            </a:pPr>
            <a:r>
              <a:t>  •  Pads missing frames by copying last observed pose</a:t>
            </a:r>
          </a:p>
          <a:p>
            <a:pPr>
              <a:spcAft>
                <a:spcPts val="400"/>
              </a:spcAft>
              <a:defRPr sz="1200">
                <a:solidFill>
                  <a:srgbClr val="CCD6E0"/>
                </a:solidFill>
              </a:defRPr>
            </a:pPr>
            <a:r>
              <a:t>  •  Removes stale IDs if unseen for &gt;30 frames</a:t>
            </a:r>
          </a:p>
          <a:p>
            <a:pPr>
              <a:spcAft>
                <a:spcPts val="400"/>
              </a:spcAft>
              <a:defRPr sz="1200">
                <a:solidFill>
                  <a:srgbClr val="CCD6E0"/>
                </a:solidFill>
              </a:defRPr>
            </a:pPr>
            <a:r>
              <a:t>  •  Output shape per person: (T=30, V=17, C=3)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1572768"/>
            <a:ext cx="5669280" cy="2011680"/>
          </a:xfrm>
          <a:prstGeom prst="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1572768"/>
            <a:ext cx="566928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1664208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</a:rPr>
              <a:t>📐  GCNPreprocessor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121408"/>
            <a:ext cx="5486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D6E0"/>
                </a:solidFill>
              </a:defRPr>
            </a:pPr>
            <a:r>
              <a:t>  •  Hip-centre normalisation (midpoint joints 11+12)</a:t>
            </a:r>
          </a:p>
          <a:p>
            <a:pPr>
              <a:spcAft>
                <a:spcPts val="400"/>
              </a:spcAft>
              <a:defRPr sz="1200">
                <a:solidFill>
                  <a:srgbClr val="CCD6E0"/>
                </a:solidFill>
              </a:defRPr>
            </a:pPr>
            <a:r>
              <a:t>  •  Removes scale bias (far vs near subjects)</a:t>
            </a:r>
          </a:p>
          <a:p>
            <a:pPr>
              <a:spcAft>
                <a:spcPts val="400"/>
              </a:spcAft>
              <a:defRPr sz="1200">
                <a:solidFill>
                  <a:srgbClr val="CCD6E0"/>
                </a:solidFill>
              </a:defRPr>
            </a:pPr>
            <a:r>
              <a:t>  •  Transposes to (N, C=3, T=30, V=17, M=1)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3703320"/>
            <a:ext cx="5669280" cy="2258568"/>
          </a:xfrm>
          <a:prstGeom prst="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3703320"/>
            <a:ext cx="5669280" cy="54864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379476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9FF14"/>
                </a:solidFill>
              </a:rPr>
              <a:t>🧬  COCO-17 Graph (A matrix)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4251960"/>
            <a:ext cx="5486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D6E0"/>
                </a:solidFill>
              </a:defRPr>
            </a:pPr>
            <a:r>
              <a:t>  •  17 nodes = COCO skeletal joints</a:t>
            </a:r>
          </a:p>
          <a:p>
            <a:pPr>
              <a:spcAft>
                <a:spcPts val="400"/>
              </a:spcAft>
              <a:defRPr sz="1200">
                <a:solidFill>
                  <a:srgbClr val="CCD6E0"/>
                </a:solidFill>
              </a:defRPr>
            </a:pPr>
            <a:r>
              <a:t>  •  Edges = physical anatomical bones</a:t>
            </a:r>
          </a:p>
          <a:p>
            <a:pPr>
              <a:spcAft>
                <a:spcPts val="400"/>
              </a:spcAft>
              <a:defRPr sz="1200">
                <a:solidFill>
                  <a:srgbClr val="CCD6E0"/>
                </a:solidFill>
              </a:defRPr>
            </a:pPr>
            <a:r>
              <a:t>  •  3-partition spatial strategy (root / centripetal / centrifugal)</a:t>
            </a:r>
          </a:p>
          <a:p>
            <a:pPr>
              <a:spcAft>
                <a:spcPts val="400"/>
              </a:spcAft>
              <a:defRPr sz="1200">
                <a:solidFill>
                  <a:srgbClr val="CCD6E0"/>
                </a:solidFill>
              </a:defRPr>
            </a:pPr>
            <a:r>
              <a:t>  •  Adjacency tensor A shape: (K=3, V=17, V=17)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124712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D4FF"/>
                </a:solidFill>
              </a:rPr>
              <a:t>Dataset &amp; Training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1556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D6E0"/>
                </a:solidFill>
              </a:rPr>
              <a:t>UCF-Crime Dataset — Real-world surveillance anomaly detection benchmark.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5303520" cy="4389120"/>
          </a:xfrm>
          <a:prstGeom prst="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72768"/>
            <a:ext cx="530352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64208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📹  UCF-Crime 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21408"/>
            <a:ext cx="5074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CD6E0"/>
                </a:solidFill>
              </a:defRPr>
            </a:pPr>
            <a:r>
              <a:t>  •  14 Classes: Abuse, Arrest, Arson, Assault,</a:t>
            </a:r>
            <a:br/>
            <a:r>
              <a:t>    Burglary, Explosion, Fighting, Normal,</a:t>
            </a:r>
            <a:br/>
            <a:r>
              <a:t>    Road Accidents, Robbery, Shooting,</a:t>
            </a:r>
            <a:br/>
            <a:r>
              <a:t>    Shoplifting, Stealing, Vandalism</a:t>
            </a:r>
          </a:p>
          <a:p>
            <a:pPr>
              <a:spcAft>
                <a:spcPts val="400"/>
              </a:spcAft>
              <a:defRPr sz="1200">
                <a:solidFill>
                  <a:srgbClr val="CCD6E0"/>
                </a:solidFill>
              </a:defRPr>
            </a:pPr>
            <a:r>
              <a:t>  •  1.26 Million frames in Train split</a:t>
            </a:r>
          </a:p>
          <a:p>
            <a:pPr>
              <a:spcAft>
                <a:spcPts val="400"/>
              </a:spcAft>
              <a:defRPr sz="1200">
                <a:solidFill>
                  <a:srgbClr val="CCD6E0"/>
                </a:solidFill>
              </a:defRPr>
            </a:pPr>
            <a:r>
              <a:t>  •  111,308 frames in Test split</a:t>
            </a:r>
          </a:p>
          <a:p>
            <a:pPr>
              <a:spcAft>
                <a:spcPts val="400"/>
              </a:spcAft>
              <a:defRPr sz="1200">
                <a:solidFill>
                  <a:srgbClr val="CCD6E0"/>
                </a:solidFill>
              </a:defRPr>
            </a:pPr>
            <a:r>
              <a:t>  •  PNG images extracted at every 10th video frame</a:t>
            </a:r>
          </a:p>
          <a:p>
            <a:pPr>
              <a:spcAft>
                <a:spcPts val="400"/>
              </a:spcAft>
              <a:defRPr sz="1200">
                <a:solidFill>
                  <a:srgbClr val="CCD6E0"/>
                </a:solidFill>
              </a:defRPr>
            </a:pPr>
            <a:r>
              <a:t>  •  Resolution: 64x64 (upscaled 4x for YOLO inference)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1572768"/>
            <a:ext cx="5669280" cy="4389120"/>
          </a:xfrm>
          <a:prstGeom prst="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1572768"/>
            <a:ext cx="566928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1664208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</a:rPr>
              <a:t>⚙️  Training Configuration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17627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</a:rPr>
              <a:t>Platform: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17627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Kaggle (Free GPU — P100 / T4)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259689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</a:rPr>
              <a:t>Epochs: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59689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25 with per-epoch checkpointing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301752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</a:rPr>
              <a:t>Optimizer: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01752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AdamW  (lr=0.001, wd=1e-4)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343814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</a:rPr>
              <a:t>Scheduler: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43814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CosineAnnealingLR (T_max=25)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385876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</a:rPr>
              <a:t>Loss: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85876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CrossEntropyLoss (label_smoothing=0.1)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427939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</a:rPr>
              <a:t>Batch Size: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427939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32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470001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</a:rPr>
              <a:t>Balancing: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470001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WeightedRandomSampler (class imbalance fix)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512064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</a:rPr>
              <a:t>Checkpoints: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512064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Best model saved as best_gcn_weights.pth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554126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</a:rPr>
              <a:t>Outputs: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554126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epoch_results.csv, confusion_matrix.png, training_curves.png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124712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D4FF"/>
                </a:solidFill>
              </a:rPr>
              <a:t>Real-Time Inference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1556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D6E0"/>
                </a:solidFill>
              </a:rPr>
              <a:t>Live webcam  →  Skeleton Extraction  →  GCN  →  Activity Alert on Screen.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5029200" cy="3840480"/>
          </a:xfrm>
          <a:prstGeom prst="rect">
            <a:avLst/>
          </a:prstGeom>
          <a:solidFill>
            <a:srgbClr val="051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72768"/>
            <a:ext cx="502920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6420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</a:rPr>
              <a:t>Live Camera Feed  (simulated)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03120"/>
            <a:ext cx="2103120" cy="256032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926080" y="2286000"/>
            <a:ext cx="2286000" cy="228600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286000"/>
            <a:ext cx="731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FFFFF"/>
                </a:solidFill>
              </a:rPr>
              <a:t>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377440"/>
            <a:ext cx="731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FFFFF"/>
                </a:solidFill>
              </a:rPr>
              <a:t>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057400"/>
            <a:ext cx="2103120" cy="292608"/>
          </a:xfrm>
          <a:prstGeom prst="rect">
            <a:avLst/>
          </a:prstGeom>
          <a:solidFill>
            <a:srgbClr val="00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066543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9FF14"/>
                </a:solidFill>
              </a:rPr>
              <a:t>✅  Normal  99.1%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2240280"/>
            <a:ext cx="2286000" cy="292608"/>
          </a:xfrm>
          <a:prstGeom prst="rect">
            <a:avLst/>
          </a:prstGeom>
          <a:solidFill>
            <a:srgbClr val="3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44368" y="224942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B35"/>
                </a:solidFill>
              </a:rPr>
              <a:t>🚨  FIGHTING  87.4%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9377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</a:rPr>
              <a:t>⚠️ ALERT: Subject ID 2 flagged [Fighting] — Confidence: 87.4%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0720" y="1572768"/>
            <a:ext cx="5943600" cy="4389120"/>
          </a:xfrm>
          <a:prstGeom prst="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60720" y="1572768"/>
            <a:ext cx="5943600" cy="54864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97880" y="1664208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9FF14"/>
                </a:solidFill>
              </a:rPr>
              <a:t>⚡  Inference Flow (per frame)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97880" y="2121408"/>
            <a:ext cx="5623560" cy="402336"/>
          </a:xfrm>
          <a:prstGeom prst="rect">
            <a:avLst/>
          </a:prstGeom>
          <a:solidFill>
            <a:srgbClr val="0D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0" y="2148839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1. Capture Frame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2148839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OpenCV reads webcam frame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97880" y="2596896"/>
            <a:ext cx="5623560" cy="402336"/>
          </a:xfrm>
          <a:prstGeom prst="rect">
            <a:avLst/>
          </a:prstGeom>
          <a:solidFill>
            <a:srgbClr val="0D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0" y="2624327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2. YOLO Inference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2624327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Detect people + extract 17 joints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97880" y="3072384"/>
            <a:ext cx="5623560" cy="402336"/>
          </a:xfrm>
          <a:prstGeom prst="rect">
            <a:avLst/>
          </a:prstGeom>
          <a:solidFill>
            <a:srgbClr val="0D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0" y="3099815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3. DeepSORT Update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3099815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Assign/maintain stable Track IDs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97880" y="3547872"/>
            <a:ext cx="5623560" cy="402336"/>
          </a:xfrm>
          <a:prstGeom prst="rect">
            <a:avLst/>
          </a:prstGeom>
          <a:solidFill>
            <a:srgbClr val="0D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35040" y="3575303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4. Buffer Push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3575303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Append keypoints to T=30 deque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97880" y="4023360"/>
            <a:ext cx="5623560" cy="402336"/>
          </a:xfrm>
          <a:prstGeom prst="rect">
            <a:avLst/>
          </a:prstGeom>
          <a:solidFill>
            <a:srgbClr val="0D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5040" y="405079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5. Preprocessor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4050792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Normalise hips, reshape to tensor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97880" y="4498848"/>
            <a:ext cx="5623560" cy="402336"/>
          </a:xfrm>
          <a:prstGeom prst="rect">
            <a:avLst/>
          </a:prstGeom>
          <a:solidFill>
            <a:srgbClr val="0D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35040" y="4526280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6. GCN Forward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66760" y="4526280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Predict class + softmax confidence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897880" y="4974336"/>
            <a:ext cx="5623560" cy="402336"/>
          </a:xfrm>
          <a:prstGeom prst="rect">
            <a:avLst/>
          </a:prstGeom>
          <a:solidFill>
            <a:srgbClr val="0D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35040" y="5001768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7. Render Alert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66760" y="5001768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Draw bounding box + class label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897880" y="5449824"/>
            <a:ext cx="5623560" cy="402336"/>
          </a:xfrm>
          <a:prstGeom prst="rect">
            <a:avLst/>
          </a:prstGeom>
          <a:solidFill>
            <a:srgbClr val="0D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35040" y="5477256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8. Terminal Log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66760" y="5477256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Print alert if confidence &gt; 65%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02920"/>
            <a:ext cx="1124712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D4FF"/>
                </a:solidFill>
              </a:rPr>
              <a:t>Conclusion &amp; Future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1556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D6E0"/>
                </a:solidFill>
              </a:rPr>
              <a:t>What we built, what we achieved, and where we go next.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5303520" cy="3200400"/>
          </a:xfrm>
          <a:prstGeom prst="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72768"/>
            <a:ext cx="5303520" cy="54864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64208"/>
            <a:ext cx="5074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9FF14"/>
                </a:solidFill>
              </a:rPr>
              <a:t>✅  What We Built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21408"/>
            <a:ext cx="50749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CD6E0"/>
                </a:solidFill>
              </a:defRPr>
            </a:pPr>
            <a:r>
              <a:t>  •  Full end-to-end skeleton-based activity detection system</a:t>
            </a:r>
          </a:p>
          <a:p>
            <a:pPr>
              <a:spcAft>
                <a:spcPts val="400"/>
              </a:spcAft>
              <a:defRPr sz="1100">
                <a:solidFill>
                  <a:srgbClr val="CCD6E0"/>
                </a:solidFill>
              </a:defRPr>
            </a:pPr>
            <a:r>
              <a:t>  •  YOLOv8 + DeepSORT multi-person tracking pipeline</a:t>
            </a:r>
          </a:p>
          <a:p>
            <a:pPr>
              <a:spcAft>
                <a:spcPts val="400"/>
              </a:spcAft>
              <a:defRPr sz="1100">
                <a:solidFill>
                  <a:srgbClr val="CCD6E0"/>
                </a:solidFill>
              </a:defRPr>
            </a:pPr>
            <a:r>
              <a:t>  •  T=30 temporal skeleton buffer with gap handling</a:t>
            </a:r>
          </a:p>
          <a:p>
            <a:pPr>
              <a:spcAft>
                <a:spcPts val="400"/>
              </a:spcAft>
              <a:defRPr sz="1100">
                <a:solidFill>
                  <a:srgbClr val="CCD6E0"/>
                </a:solidFill>
              </a:defRPr>
            </a:pPr>
            <a:r>
              <a:t>  •  COCO-17 anatomical adjacency graph construction</a:t>
            </a:r>
          </a:p>
          <a:p>
            <a:pPr>
              <a:spcAft>
                <a:spcPts val="400"/>
              </a:spcAft>
              <a:defRPr sz="1100">
                <a:solidFill>
                  <a:srgbClr val="CCD6E0"/>
                </a:solidFill>
              </a:defRPr>
            </a:pPr>
            <a:r>
              <a:t>  •  6-layer ST-GCN with residual connections + dropout</a:t>
            </a:r>
          </a:p>
          <a:p>
            <a:pPr>
              <a:spcAft>
                <a:spcPts val="400"/>
              </a:spcAft>
              <a:defRPr sz="1100">
                <a:solidFill>
                  <a:srgbClr val="CCD6E0"/>
                </a:solidFill>
              </a:defRPr>
            </a:pPr>
            <a:r>
              <a:t>  •  14-class classifier: identifies exact crime category</a:t>
            </a:r>
          </a:p>
          <a:p>
            <a:pPr>
              <a:spcAft>
                <a:spcPts val="400"/>
              </a:spcAft>
              <a:defRPr sz="1100">
                <a:solidFill>
                  <a:srgbClr val="CCD6E0"/>
                </a:solidFill>
              </a:defRPr>
            </a:pPr>
            <a:r>
              <a:t>  •  Kaggle training notebook with per-epoch checkpointing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1572768"/>
            <a:ext cx="5669280" cy="3200400"/>
          </a:xfrm>
          <a:prstGeom prst="rect">
            <a:avLst/>
          </a:prstGeom>
          <a:solidFill>
            <a:srgbClr val="162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1572768"/>
            <a:ext cx="566928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1664208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</a:rPr>
              <a:t>🚀  Future Roadmap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121408"/>
            <a:ext cx="5486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CD6E0"/>
                </a:solidFill>
              </a:defRPr>
            </a:pPr>
            <a:r>
              <a:t>  •  Train model on UCF-Crime full dataset (GPU)</a:t>
            </a:r>
          </a:p>
          <a:p>
            <a:pPr>
              <a:spcAft>
                <a:spcPts val="400"/>
              </a:spcAft>
              <a:defRPr sz="1100">
                <a:solidFill>
                  <a:srgbClr val="CCD6E0"/>
                </a:solidFill>
              </a:defRPr>
            </a:pPr>
            <a:r>
              <a:t>  •  Integrate trained weights into live inference</a:t>
            </a:r>
          </a:p>
          <a:p>
            <a:pPr>
              <a:spcAft>
                <a:spcPts val="400"/>
              </a:spcAft>
              <a:defRPr sz="1100">
                <a:solidFill>
                  <a:srgbClr val="CCD6E0"/>
                </a:solidFill>
              </a:defRPr>
            </a:pPr>
            <a:r>
              <a:t>  •  Add audio alerting system for critical events</a:t>
            </a:r>
          </a:p>
          <a:p>
            <a:pPr>
              <a:spcAft>
                <a:spcPts val="400"/>
              </a:spcAft>
              <a:defRPr sz="1100">
                <a:solidFill>
                  <a:srgbClr val="CCD6E0"/>
                </a:solidFill>
              </a:defRPr>
            </a:pPr>
            <a:r>
              <a:t>  •  Deploy as Flask/FastAPI web dashboard with RTSP</a:t>
            </a:r>
          </a:p>
          <a:p>
            <a:pPr>
              <a:spcAft>
                <a:spcPts val="400"/>
              </a:spcAft>
              <a:defRPr sz="1100">
                <a:solidFill>
                  <a:srgbClr val="CCD6E0"/>
                </a:solidFill>
              </a:defRPr>
            </a:pPr>
            <a:r>
              <a:t>  •  Explore multi-stream CCTV integration</a:t>
            </a:r>
          </a:p>
          <a:p>
            <a:pPr>
              <a:spcAft>
                <a:spcPts val="400"/>
              </a:spcAft>
              <a:defRPr sz="1100">
                <a:solidFill>
                  <a:srgbClr val="CCD6E0"/>
                </a:solidFill>
              </a:defRPr>
            </a:pPr>
            <a:r>
              <a:t>  •  Extend to 3D pose estimation for better accuracy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937760"/>
            <a:ext cx="11247120" cy="1417320"/>
          </a:xfrm>
          <a:prstGeom prst="rect">
            <a:avLst/>
          </a:prstGeom>
          <a:solidFill>
            <a:srgbClr val="05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937760"/>
            <a:ext cx="1124712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502920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D4FF"/>
                </a:solidFill>
              </a:rPr>
              <a:t>Thank You!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6235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6E0"/>
                </a:solidFill>
              </a:rPr>
              <a:t>Sagar Shukla   •   Aditya Sonwane   •   Prem Sawant   |   COEP Technological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